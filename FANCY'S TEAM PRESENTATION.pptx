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8620" y="2302680"/>
            <a:ext cx="7315200" cy="1325880"/>
          </a:xfrm>
          <a:prstGeom prst="roundRect">
            <a:avLst>
              <a:gd name="adj" fmla="val 12000"/>
            </a:avLst>
          </a:prstGeom>
          <a:solidFill>
            <a:srgbClr val="005391"/>
          </a:solidFill>
          <a:ln>
            <a:solidFill>
              <a:srgbClr val="005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80060" y="2495822"/>
            <a:ext cx="6812280" cy="5943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100" b="1" dirty="0">
                <a:solidFill>
                  <a:srgbClr val="FFFFFF"/>
                </a:solidFill>
                <a:latin typeface="Aptos"/>
              </a:rPr>
              <a:t>Hotel Network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3016226"/>
            <a:ext cx="681228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Aptos"/>
              </a:rPr>
              <a:t>with Guest and Administration VLANs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58200" y="1415333"/>
            <a:ext cx="3429000" cy="5349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BF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22282" y="1106424"/>
            <a:ext cx="297180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600" b="1" dirty="0">
                <a:solidFill>
                  <a:srgbClr val="005391"/>
                </a:solidFill>
                <a:latin typeface="Aptos"/>
              </a:rPr>
              <a:t>NETWORK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87437" y="1984016"/>
            <a:ext cx="1325880" cy="594360"/>
          </a:xfrm>
          <a:prstGeom prst="roundRect">
            <a:avLst>
              <a:gd name="adj" fmla="val 12000"/>
            </a:avLst>
          </a:prstGeom>
          <a:solidFill>
            <a:srgbClr val="E8F4FD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45131" y="2051446"/>
            <a:ext cx="123444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 dirty="0">
                <a:solidFill>
                  <a:srgbClr val="005391"/>
                </a:solidFill>
                <a:latin typeface="Aptos"/>
              </a:rPr>
              <a:t>Router0
Cisco 1941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87437" y="3833636"/>
            <a:ext cx="1325880" cy="594360"/>
          </a:xfrm>
          <a:prstGeom prst="roundRect">
            <a:avLst>
              <a:gd name="adj" fmla="val 12000"/>
            </a:avLst>
          </a:prstGeom>
          <a:solidFill>
            <a:srgbClr val="E8F4FD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90962" y="3834961"/>
            <a:ext cx="123444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 dirty="0">
                <a:solidFill>
                  <a:srgbClr val="005391"/>
                </a:solidFill>
                <a:latin typeface="Aptos"/>
              </a:rPr>
              <a:t>Switch0
Cisco 2960</a:t>
            </a:r>
          </a:p>
        </p:txBody>
      </p:sp>
      <p:cxnSp>
        <p:nvCxnSpPr>
          <p:cNvPr id="11" name="Connector 10"/>
          <p:cNvCxnSpPr>
            <a:cxnSpLocks/>
          </p:cNvCxnSpPr>
          <p:nvPr/>
        </p:nvCxnSpPr>
        <p:spPr>
          <a:xfrm>
            <a:off x="10208182" y="2677886"/>
            <a:ext cx="0" cy="1155750"/>
          </a:xfrm>
          <a:prstGeom prst="line">
            <a:avLst/>
          </a:prstGeom>
          <a:ln w="25400">
            <a:solidFill>
              <a:srgbClr val="0053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821782" y="4745736"/>
            <a:ext cx="640080" cy="566928"/>
          </a:xfrm>
          <a:prstGeom prst="roundRect">
            <a:avLst>
              <a:gd name="adj" fmla="val 12000"/>
            </a:avLst>
          </a:prstGeom>
          <a:solidFill>
            <a:srgbClr val="E8F8ED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51393" y="4815622"/>
            <a:ext cx="60350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 dirty="0">
                <a:solidFill>
                  <a:srgbClr val="182B3E"/>
                </a:solidFill>
                <a:latin typeface="Aptos"/>
              </a:rPr>
              <a:t>PC0
Guest</a:t>
            </a:r>
          </a:p>
        </p:txBody>
      </p:sp>
      <p:cxnSp>
        <p:nvCxnSpPr>
          <p:cNvPr id="14" name="Connector 13"/>
          <p:cNvCxnSpPr>
            <a:cxnSpLocks/>
            <a:endCxn id="12" idx="0"/>
          </p:cNvCxnSpPr>
          <p:nvPr/>
        </p:nvCxnSpPr>
        <p:spPr>
          <a:xfrm flipH="1">
            <a:off x="9141822" y="4347687"/>
            <a:ext cx="342140" cy="398049"/>
          </a:xfrm>
          <a:prstGeom prst="line">
            <a:avLst/>
          </a:prstGeom>
          <a:ln w="1778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417231" y="6108192"/>
            <a:ext cx="640080" cy="566928"/>
          </a:xfrm>
          <a:prstGeom prst="roundRect">
            <a:avLst>
              <a:gd name="adj" fmla="val 12000"/>
            </a:avLst>
          </a:prstGeom>
          <a:solidFill>
            <a:srgbClr val="E8F8ED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09176" y="6212912"/>
            <a:ext cx="60350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182B3E"/>
                </a:solidFill>
                <a:latin typeface="Aptos"/>
              </a:rPr>
              <a:t>PC1
Guest</a:t>
            </a:r>
          </a:p>
        </p:txBody>
      </p:sp>
      <p:cxnSp>
        <p:nvCxnSpPr>
          <p:cNvPr id="17" name="Connector 16"/>
          <p:cNvCxnSpPr>
            <a:cxnSpLocks/>
          </p:cNvCxnSpPr>
          <p:nvPr/>
        </p:nvCxnSpPr>
        <p:spPr>
          <a:xfrm flipH="1">
            <a:off x="9745979" y="4427996"/>
            <a:ext cx="93616" cy="1663744"/>
          </a:xfrm>
          <a:prstGeom prst="line">
            <a:avLst/>
          </a:prstGeom>
          <a:ln w="1778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1092548" y="4779070"/>
            <a:ext cx="640080" cy="566928"/>
          </a:xfrm>
          <a:prstGeom prst="roundRect">
            <a:avLst>
              <a:gd name="adj" fmla="val 12000"/>
            </a:avLst>
          </a:prstGeom>
          <a:solidFill>
            <a:srgbClr val="F4EEFF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28248" y="4833934"/>
            <a:ext cx="60350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 dirty="0">
                <a:solidFill>
                  <a:srgbClr val="182B3E"/>
                </a:solidFill>
                <a:latin typeface="Aptos"/>
              </a:rPr>
              <a:t>PC2
Admin</a:t>
            </a:r>
          </a:p>
        </p:txBody>
      </p:sp>
      <p:cxnSp>
        <p:nvCxnSpPr>
          <p:cNvPr id="20" name="Connector 19"/>
          <p:cNvCxnSpPr>
            <a:cxnSpLocks/>
          </p:cNvCxnSpPr>
          <p:nvPr/>
        </p:nvCxnSpPr>
        <p:spPr>
          <a:xfrm>
            <a:off x="10825402" y="4427996"/>
            <a:ext cx="492692" cy="330224"/>
          </a:xfrm>
          <a:prstGeom prst="line">
            <a:avLst/>
          </a:prstGeom>
          <a:ln w="1778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1005455" y="5824728"/>
            <a:ext cx="640080" cy="566928"/>
          </a:xfrm>
          <a:prstGeom prst="roundRect">
            <a:avLst>
              <a:gd name="adj" fmla="val 12000"/>
            </a:avLst>
          </a:prstGeom>
          <a:solidFill>
            <a:srgbClr val="F4EEFF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016342" y="5884817"/>
            <a:ext cx="60350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 dirty="0">
                <a:solidFill>
                  <a:srgbClr val="182B3E"/>
                </a:solidFill>
                <a:latin typeface="Aptos"/>
              </a:rPr>
              <a:t>PC3
Admin</a:t>
            </a:r>
          </a:p>
        </p:txBody>
      </p:sp>
      <p:cxnSp>
        <p:nvCxnSpPr>
          <p:cNvPr id="23" name="Connector 22"/>
          <p:cNvCxnSpPr>
            <a:cxnSpLocks/>
          </p:cNvCxnSpPr>
          <p:nvPr/>
        </p:nvCxnSpPr>
        <p:spPr>
          <a:xfrm>
            <a:off x="10294725" y="4482628"/>
            <a:ext cx="1027833" cy="1352550"/>
          </a:xfrm>
          <a:prstGeom prst="line">
            <a:avLst/>
          </a:prstGeom>
          <a:ln w="1778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17220" y="4555320"/>
            <a:ext cx="7040880" cy="119417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lang="en-US" sz="1700" b="0" dirty="0">
                <a:solidFill>
                  <a:srgbClr val="182B3E"/>
                </a:solidFill>
                <a:latin typeface="Aptos"/>
              </a:rPr>
              <a:t>STUDENT NAMES:</a:t>
            </a:r>
            <a:r>
              <a:rPr sz="1700" b="0" dirty="0">
                <a:solidFill>
                  <a:srgbClr val="182B3E"/>
                </a:solidFill>
                <a:latin typeface="Aptos"/>
              </a:rPr>
              <a:t>
Bhagyashree Patel  •  Fancy Patel  •  Mahek </a:t>
            </a:r>
            <a:r>
              <a:rPr sz="1700" b="0" dirty="0" err="1">
                <a:solidFill>
                  <a:srgbClr val="182B3E"/>
                </a:solidFill>
                <a:latin typeface="Aptos"/>
              </a:rPr>
              <a:t>Pithiya</a:t>
            </a:r>
            <a:r>
              <a:rPr sz="1700" b="0" dirty="0">
                <a:solidFill>
                  <a:srgbClr val="182B3E"/>
                </a:solidFill>
                <a:latin typeface="Aptos"/>
              </a:rPr>
              <a:t>  •  Krina </a:t>
            </a:r>
            <a:r>
              <a:rPr sz="1700" b="0" dirty="0" err="1">
                <a:solidFill>
                  <a:srgbClr val="182B3E"/>
                </a:solidFill>
                <a:latin typeface="Aptos"/>
              </a:rPr>
              <a:t>Chothani</a:t>
            </a:r>
            <a:endParaRPr lang="en-US" sz="1700" b="0" dirty="0">
              <a:solidFill>
                <a:srgbClr val="182B3E"/>
              </a:solidFill>
              <a:latin typeface="Aptos"/>
            </a:endParaRPr>
          </a:p>
          <a:p>
            <a:pPr algn="l"/>
            <a:r>
              <a:rPr lang="en-IN" sz="1700" b="0" dirty="0" err="1">
                <a:solidFill>
                  <a:srgbClr val="182B3E"/>
                </a:solidFill>
                <a:latin typeface="Aptos"/>
              </a:rPr>
              <a:t>FACULTY:MS.</a:t>
            </a:r>
            <a:r>
              <a:rPr lang="en-IN" sz="1700" dirty="0" err="1">
                <a:solidFill>
                  <a:srgbClr val="182B3E"/>
                </a:solidFill>
                <a:latin typeface="Aptos"/>
              </a:rPr>
              <a:t>Pragya</a:t>
            </a:r>
            <a:r>
              <a:rPr lang="en-IN" sz="1700" dirty="0">
                <a:solidFill>
                  <a:srgbClr val="182B3E"/>
                </a:solidFill>
                <a:latin typeface="Aptos"/>
              </a:rPr>
              <a:t> Vats</a:t>
            </a:r>
            <a:r>
              <a:rPr sz="1700" b="0" dirty="0">
                <a:solidFill>
                  <a:srgbClr val="182B3E"/>
                </a:solidFill>
                <a:latin typeface="Aptos"/>
              </a:rPr>
              <a:t>
</a:t>
            </a:r>
            <a:r>
              <a:rPr lang="en-US" sz="1700" dirty="0">
                <a:solidFill>
                  <a:srgbClr val="182B3E"/>
                </a:solidFill>
                <a:latin typeface="Aptos"/>
              </a:rPr>
              <a:t>DEPARTMENT</a:t>
            </a:r>
            <a:r>
              <a:rPr sz="1700" b="0" dirty="0">
                <a:solidFill>
                  <a:srgbClr val="182B3E"/>
                </a:solidFill>
                <a:latin typeface="Aptos"/>
              </a:rPr>
              <a:t>: UIT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884817"/>
            <a:ext cx="6903720" cy="685800"/>
          </a:xfrm>
          <a:prstGeom prst="roundRect">
            <a:avLst>
              <a:gd name="adj" fmla="val 12000"/>
            </a:avLst>
          </a:prstGeom>
          <a:solidFill>
            <a:srgbClr val="E8F4FD"/>
          </a:solidFill>
          <a:ln>
            <a:solidFill>
              <a:srgbClr val="BF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4380" y="5976257"/>
            <a:ext cx="6537960" cy="5029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 dirty="0">
                <a:solidFill>
                  <a:srgbClr val="005391"/>
                </a:solidFill>
                <a:latin typeface="Aptos"/>
              </a:rPr>
              <a:t>Focus: VLAN segmentation, router-on-a-stick, and ACL-based access control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3C28ACB-501D-3E69-285F-C483A5B67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249745"/>
            <a:ext cx="2905125" cy="1000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43484" y="1337199"/>
            <a:ext cx="11548872" cy="658368"/>
          </a:xfrm>
          <a:prstGeom prst="roundRect">
            <a:avLst>
              <a:gd name="adj" fmla="val 12000"/>
            </a:avLst>
          </a:prstGeom>
          <a:solidFill>
            <a:srgbClr val="005391"/>
          </a:solidFill>
          <a:ln>
            <a:solidFill>
              <a:srgbClr val="005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460425"/>
            <a:ext cx="10881360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500" b="1" dirty="0">
                <a:solidFill>
                  <a:srgbClr val="FFFFFF"/>
                </a:solidFill>
                <a:latin typeface="Aptos"/>
              </a:rPr>
              <a:t>Introduction and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3697C"/>
                </a:solidFill>
                <a:latin typeface="Apto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2547255"/>
            <a:ext cx="5394960" cy="3844399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>
            <a:solidFill>
              <a:srgbClr val="BF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0352" y="2073075"/>
            <a:ext cx="5394960" cy="384048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2167779"/>
            <a:ext cx="5175504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146" y="2848138"/>
            <a:ext cx="5102352" cy="39502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dirty="0">
                <a:solidFill>
                  <a:srgbClr val="182B3E"/>
                </a:solidFill>
                <a:latin typeface="Aptos"/>
              </a:rPr>
              <a:t>• Guests use the network for personal devices.
• Hotel administration uses computers for internal work.
• Guest and administration traffic should be separated.
• Unrestricted access can create security risks.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4122" y="2547256"/>
            <a:ext cx="5394960" cy="3844399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>
            <a:solidFill>
              <a:srgbClr val="BF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9944" y="2073075"/>
            <a:ext cx="5394960" cy="384048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9944" y="2116617"/>
            <a:ext cx="5175504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OUR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848138"/>
            <a:ext cx="5102352" cy="39502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dirty="0">
                <a:solidFill>
                  <a:srgbClr val="182B3E"/>
                </a:solidFill>
                <a:latin typeface="Aptos"/>
              </a:rPr>
              <a:t>• Create Guest VLAN 10 and Administration VLAN 20.
• Use separate IP subnets and router gateways.
• Configure an 802.1Q trunk between switch and router.
• Apply the extended ACL GUEST_FILTER to block Guest-to-Admin traffic.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57300" y="6473952"/>
            <a:ext cx="10012680" cy="365760"/>
          </a:xfrm>
          <a:prstGeom prst="roundRect">
            <a:avLst>
              <a:gd name="adj" fmla="val 12000"/>
            </a:avLst>
          </a:prstGeom>
          <a:solidFill>
            <a:srgbClr val="E8F4FD"/>
          </a:solidFill>
          <a:ln>
            <a:solidFill>
              <a:srgbClr val="BF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58537" y="6574536"/>
            <a:ext cx="973836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 dirty="0">
                <a:solidFill>
                  <a:srgbClr val="005391"/>
                </a:solidFill>
                <a:latin typeface="Aptos"/>
              </a:rPr>
              <a:t>VLAN 10 · GUEST     |     VLAN 20 · ADMIN     |     ACL · GUEST_FILTER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52D5A3A-0C8E-8D80-9E54-A30D44B26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97" y="164862"/>
            <a:ext cx="2905125" cy="10001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9307F8A-02E0-7C0F-7E25-436216777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5303" y="336312"/>
            <a:ext cx="1714500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97764" y="1641865"/>
            <a:ext cx="11548872" cy="658368"/>
          </a:xfrm>
          <a:prstGeom prst="roundRect">
            <a:avLst>
              <a:gd name="adj" fmla="val 12000"/>
            </a:avLst>
          </a:prstGeom>
          <a:solidFill>
            <a:srgbClr val="005391"/>
          </a:solidFill>
          <a:ln>
            <a:solidFill>
              <a:srgbClr val="005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86306"/>
            <a:ext cx="10881360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3697C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2640438"/>
            <a:ext cx="5303520" cy="114300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>
            <a:solidFill>
              <a:srgbClr val="BF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1361" y="2866126"/>
            <a:ext cx="658368" cy="658368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2895382"/>
            <a:ext cx="621792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900" b="1" dirty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4253" y="2860874"/>
            <a:ext cx="4069080" cy="8961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 dirty="0">
                <a:solidFill>
                  <a:srgbClr val="182B3E"/>
                </a:solidFill>
                <a:latin typeface="Aptos"/>
              </a:rPr>
              <a:t>Design a small hotel network in Cisco Packet Tracer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65392" y="2652903"/>
            <a:ext cx="5303520" cy="114300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>
            <a:solidFill>
              <a:srgbClr val="BF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744789" y="2953214"/>
            <a:ext cx="658368" cy="658368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91597" y="2995041"/>
            <a:ext cx="621792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900" b="1" dirty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9594" y="2862181"/>
            <a:ext cx="4069080" cy="8961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 dirty="0">
                <a:solidFill>
                  <a:srgbClr val="182B3E"/>
                </a:solidFill>
                <a:latin typeface="Aptos"/>
              </a:rPr>
              <a:t>Create Guest VLAN 10 and Administration VLAN 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" y="3904488"/>
            <a:ext cx="5303520" cy="114300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>
            <a:solidFill>
              <a:srgbClr val="BF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1955" y="4269268"/>
            <a:ext cx="658368" cy="658368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2811" y="4370831"/>
            <a:ext cx="621792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900" b="1" dirty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3352" y="4198402"/>
            <a:ext cx="4069080" cy="8961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 dirty="0">
                <a:solidFill>
                  <a:srgbClr val="182B3E"/>
                </a:solidFill>
                <a:latin typeface="Aptos"/>
              </a:rPr>
              <a:t>Assign static IP addresses to four PCs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3955597"/>
            <a:ext cx="5303520" cy="114300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>
            <a:solidFill>
              <a:srgbClr val="BF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781800" y="4349605"/>
            <a:ext cx="658368" cy="658368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85719" y="4379976"/>
            <a:ext cx="621792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900" b="1" dirty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4240530"/>
            <a:ext cx="4069080" cy="8961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82B3E"/>
                </a:solidFill>
                <a:latin typeface="Aptos"/>
              </a:rPr>
              <a:t>Configure router subinterfaces and an 802.1Q trunk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" y="5189220"/>
            <a:ext cx="5303520" cy="114300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>
            <a:solidFill>
              <a:srgbClr val="BF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68096" y="5480304"/>
            <a:ext cx="658368" cy="658368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7314" y="5484223"/>
            <a:ext cx="621792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3352" y="5333347"/>
            <a:ext cx="4069080" cy="8961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82B3E"/>
                </a:solidFill>
                <a:latin typeface="Aptos"/>
              </a:rPr>
              <a:t>Apply an extended ACL to restrict Guest-to-Admin traffic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5189220"/>
            <a:ext cx="5303520" cy="114300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>
            <a:solidFill>
              <a:srgbClr val="BF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768302" y="5402471"/>
            <a:ext cx="658368" cy="658368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86590" y="5484223"/>
            <a:ext cx="621792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900" b="1" dirty="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9594" y="5333347"/>
            <a:ext cx="4069080" cy="8961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 dirty="0">
                <a:solidFill>
                  <a:srgbClr val="182B3E"/>
                </a:solidFill>
                <a:latin typeface="Aptos"/>
              </a:rPr>
              <a:t>Test connectivity and verify the ACL behavior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65860" y="6437376"/>
            <a:ext cx="10012680" cy="384048"/>
          </a:xfrm>
          <a:prstGeom prst="roundRect">
            <a:avLst>
              <a:gd name="adj" fmla="val 12000"/>
            </a:avLst>
          </a:prstGeom>
          <a:solidFill>
            <a:srgbClr val="E8F8ED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25296" y="6505738"/>
            <a:ext cx="973836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 dirty="0">
                <a:solidFill>
                  <a:srgbClr val="16A34A"/>
                </a:solidFill>
                <a:latin typeface="Aptos"/>
              </a:rPr>
              <a:t>Goal: same-VLAN communication succeeds; Guest-to-Administration traffic is blocked.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42FC76F-4FA4-CFEF-E606-34A826BDE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97" y="164862"/>
            <a:ext cx="2905125" cy="100012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EEE53194-10A4-763E-1F21-8FC178BD0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5303" y="336312"/>
            <a:ext cx="1714500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1349392"/>
            <a:ext cx="11548872" cy="658368"/>
          </a:xfrm>
          <a:prstGeom prst="roundRect">
            <a:avLst>
              <a:gd name="adj" fmla="val 12000"/>
            </a:avLst>
          </a:prstGeom>
          <a:solidFill>
            <a:srgbClr val="005391"/>
          </a:solidFill>
          <a:ln>
            <a:solidFill>
              <a:srgbClr val="005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5790" y="1372470"/>
            <a:ext cx="10881360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Network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3697C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" y="2174203"/>
            <a:ext cx="7772400" cy="466093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BF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376422" y="2241042"/>
            <a:ext cx="2057400" cy="658368"/>
          </a:xfrm>
          <a:prstGeom prst="roundRect">
            <a:avLst>
              <a:gd name="adj" fmla="val 12000"/>
            </a:avLst>
          </a:prstGeom>
          <a:solidFill>
            <a:srgbClr val="E8F4FD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95294" y="2275659"/>
            <a:ext cx="1819656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 dirty="0">
                <a:solidFill>
                  <a:srgbClr val="005391"/>
                </a:solidFill>
                <a:latin typeface="Aptos"/>
              </a:rPr>
              <a:t>Router0
Cisco 1941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5012" y="3515868"/>
            <a:ext cx="2057400" cy="658368"/>
          </a:xfrm>
          <a:prstGeom prst="roundRect">
            <a:avLst>
              <a:gd name="adj" fmla="val 12000"/>
            </a:avLst>
          </a:prstGeom>
          <a:solidFill>
            <a:srgbClr val="E8F4FD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47872" y="3552662"/>
            <a:ext cx="1819656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 dirty="0">
                <a:solidFill>
                  <a:srgbClr val="005391"/>
                </a:solidFill>
                <a:latin typeface="Aptos"/>
              </a:rPr>
              <a:t>Switch0
Cisco 2960</a:t>
            </a:r>
          </a:p>
        </p:txBody>
      </p:sp>
      <p:cxnSp>
        <p:nvCxnSpPr>
          <p:cNvPr id="11" name="Connector 10"/>
          <p:cNvCxnSpPr>
            <a:cxnSpLocks/>
            <a:stCxn id="7" idx="2"/>
          </p:cNvCxnSpPr>
          <p:nvPr/>
        </p:nvCxnSpPr>
        <p:spPr>
          <a:xfrm flipH="1">
            <a:off x="4366260" y="2899410"/>
            <a:ext cx="38862" cy="616458"/>
          </a:xfrm>
          <a:prstGeom prst="line">
            <a:avLst/>
          </a:prstGeom>
          <a:ln w="25400">
            <a:solidFill>
              <a:srgbClr val="0053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53712" y="2862943"/>
            <a:ext cx="219456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 dirty="0">
                <a:solidFill>
                  <a:srgbClr val="53697C"/>
                </a:solidFill>
                <a:latin typeface="Aptos"/>
              </a:rPr>
              <a:t>Fa0/24 trunk · VLANs 10, 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5790" y="5102352"/>
            <a:ext cx="1417320" cy="868680"/>
          </a:xfrm>
          <a:prstGeom prst="roundRect">
            <a:avLst>
              <a:gd name="adj" fmla="val 12000"/>
            </a:avLst>
          </a:prstGeom>
          <a:solidFill>
            <a:srgbClr val="E8F8ED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1802" y="5157216"/>
            <a:ext cx="1307592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 dirty="0">
                <a:solidFill>
                  <a:srgbClr val="182B3E"/>
                </a:solidFill>
                <a:latin typeface="Aptos"/>
              </a:rPr>
              <a:t>PC0
192.168.10.10
VLAN 10 · Guest</a:t>
            </a:r>
          </a:p>
        </p:txBody>
      </p:sp>
      <p:cxnSp>
        <p:nvCxnSpPr>
          <p:cNvPr id="15" name="Connector 14"/>
          <p:cNvCxnSpPr>
            <a:cxnSpLocks/>
          </p:cNvCxnSpPr>
          <p:nvPr/>
        </p:nvCxnSpPr>
        <p:spPr>
          <a:xfrm flipH="1">
            <a:off x="937260" y="4155948"/>
            <a:ext cx="2610612" cy="946404"/>
          </a:xfrm>
          <a:prstGeom prst="line">
            <a:avLst/>
          </a:prstGeom>
          <a:ln w="1905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231136" y="5852160"/>
            <a:ext cx="1417320" cy="868680"/>
          </a:xfrm>
          <a:prstGeom prst="roundRect">
            <a:avLst>
              <a:gd name="adj" fmla="val 12000"/>
            </a:avLst>
          </a:prstGeom>
          <a:solidFill>
            <a:srgbClr val="E8F8ED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20290" y="5916168"/>
            <a:ext cx="1307592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 dirty="0">
                <a:solidFill>
                  <a:srgbClr val="182B3E"/>
                </a:solidFill>
                <a:latin typeface="Aptos"/>
              </a:rPr>
              <a:t>PC1
192.168.10.11
VLAN 10 · Guest</a:t>
            </a:r>
          </a:p>
        </p:txBody>
      </p:sp>
      <p:cxnSp>
        <p:nvCxnSpPr>
          <p:cNvPr id="18" name="Connector 17"/>
          <p:cNvCxnSpPr>
            <a:cxnSpLocks/>
          </p:cNvCxnSpPr>
          <p:nvPr/>
        </p:nvCxnSpPr>
        <p:spPr>
          <a:xfrm flipH="1">
            <a:off x="2536371" y="4251961"/>
            <a:ext cx="1308681" cy="1581911"/>
          </a:xfrm>
          <a:prstGeom prst="line">
            <a:avLst/>
          </a:prstGeom>
          <a:ln w="1905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553712" y="5006340"/>
            <a:ext cx="1417320" cy="868680"/>
          </a:xfrm>
          <a:prstGeom prst="roundRect">
            <a:avLst>
              <a:gd name="adj" fmla="val 12000"/>
            </a:avLst>
          </a:prstGeom>
          <a:solidFill>
            <a:srgbClr val="F4EEFF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22292" y="5033772"/>
            <a:ext cx="1307592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 dirty="0">
                <a:solidFill>
                  <a:srgbClr val="182B3E"/>
                </a:solidFill>
                <a:latin typeface="Aptos"/>
              </a:rPr>
              <a:t>PC2
192.168.20.10
VLAN 20 · Admin</a:t>
            </a:r>
          </a:p>
        </p:txBody>
      </p:sp>
      <p:cxnSp>
        <p:nvCxnSpPr>
          <p:cNvPr id="21" name="Connector 20"/>
          <p:cNvCxnSpPr>
            <a:cxnSpLocks/>
            <a:endCxn id="19" idx="0"/>
          </p:cNvCxnSpPr>
          <p:nvPr/>
        </p:nvCxnSpPr>
        <p:spPr>
          <a:xfrm>
            <a:off x="4869126" y="4201668"/>
            <a:ext cx="393246" cy="804672"/>
          </a:xfrm>
          <a:prstGeom prst="line">
            <a:avLst/>
          </a:prstGeom>
          <a:ln w="1905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41473" y="5839968"/>
            <a:ext cx="1417320" cy="868680"/>
          </a:xfrm>
          <a:prstGeom prst="roundRect">
            <a:avLst>
              <a:gd name="adj" fmla="val 12000"/>
            </a:avLst>
          </a:prstGeom>
          <a:solidFill>
            <a:srgbClr val="F4EEFF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96337" y="5949696"/>
            <a:ext cx="1307592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 dirty="0">
                <a:solidFill>
                  <a:srgbClr val="182B3E"/>
                </a:solidFill>
                <a:latin typeface="Aptos"/>
              </a:rPr>
              <a:t>PC3
192.168.20.11
VLAN 20 · Admin</a:t>
            </a:r>
          </a:p>
        </p:txBody>
      </p:sp>
      <p:cxnSp>
        <p:nvCxnSpPr>
          <p:cNvPr id="24" name="Connector 23"/>
          <p:cNvCxnSpPr>
            <a:cxnSpLocks/>
            <a:endCxn id="22" idx="0"/>
          </p:cNvCxnSpPr>
          <p:nvPr/>
        </p:nvCxnSpPr>
        <p:spPr>
          <a:xfrm>
            <a:off x="5577786" y="4201668"/>
            <a:ext cx="1472347" cy="1638300"/>
          </a:xfrm>
          <a:prstGeom prst="line">
            <a:avLst/>
          </a:prstGeom>
          <a:ln w="1905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527542" y="2698241"/>
            <a:ext cx="3108960" cy="1536302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>
            <a:solidFill>
              <a:srgbClr val="BF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490966" y="2174203"/>
            <a:ext cx="3108960" cy="384048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59367" y="2194232"/>
            <a:ext cx="2889504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DEVICES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7542" y="2899410"/>
            <a:ext cx="2816352" cy="15727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dirty="0">
                <a:solidFill>
                  <a:srgbClr val="182B3E"/>
                </a:solidFill>
                <a:latin typeface="Aptos"/>
              </a:rPr>
              <a:t>• 1 Cisco 1941 router
• 1 Cisco 2960 switch
• 4 PCs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49639" y="4898571"/>
            <a:ext cx="3108960" cy="1881704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>
            <a:solidFill>
              <a:srgbClr val="BF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527542" y="4409368"/>
            <a:ext cx="3108960" cy="384048"/>
          </a:xfrm>
          <a:prstGeom prst="roundRect">
            <a:avLst>
              <a:gd name="adj" fmla="val 1200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00694" y="4464232"/>
            <a:ext cx="2889504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PORT MAPPING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73846" y="5271516"/>
            <a:ext cx="2816352" cy="1709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>
                <a:solidFill>
                  <a:srgbClr val="182B3E"/>
                </a:solidFill>
                <a:latin typeface="Aptos"/>
              </a:rPr>
              <a:t>• Fa0/1–Fa0/2 → VLAN 10
• Fa0/9–Fa0/10 → VLAN 20
• Fa0/24 → trunk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58137A2A-C777-E17F-11FF-21BCB523C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97" y="164862"/>
            <a:ext cx="2905125" cy="100012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1C2AB0EC-D708-5031-79FE-7E5C4C79D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5303" y="336312"/>
            <a:ext cx="1714500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1564" y="1314123"/>
            <a:ext cx="11548872" cy="658368"/>
          </a:xfrm>
          <a:prstGeom prst="roundRect">
            <a:avLst>
              <a:gd name="adj" fmla="val 12000"/>
            </a:avLst>
          </a:prstGeom>
          <a:solidFill>
            <a:srgbClr val="005391"/>
          </a:solidFill>
          <a:ln>
            <a:solidFill>
              <a:srgbClr val="005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8497" y="1383356"/>
            <a:ext cx="10881360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VLAN and IP Address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3697C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660469"/>
            <a:ext cx="5349240" cy="128016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>
            <a:solidFill>
              <a:srgbClr val="BF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" y="2069157"/>
            <a:ext cx="5349240" cy="384048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2124021"/>
            <a:ext cx="5129783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VLAN 10 · GUEST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5394" y="3105040"/>
            <a:ext cx="5056631" cy="749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182B3E"/>
                </a:solidFill>
                <a:latin typeface="Aptos"/>
              </a:rPr>
              <a:t>Network: 192.168.10.0/24
Gateway: 192.168.10.1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23893"/>
            <a:ext cx="5349240" cy="1280160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>
            <a:solidFill>
              <a:srgbClr val="BF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90488" y="2073510"/>
            <a:ext cx="5349240" cy="384048"/>
          </a:xfrm>
          <a:prstGeom prst="roundRect">
            <a:avLst>
              <a:gd name="adj" fmla="val 1200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0217" y="2092671"/>
            <a:ext cx="5129783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VLAN 20 · ADMINISTRATION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9" y="3045387"/>
            <a:ext cx="5056631" cy="7498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182B3E"/>
                </a:solidFill>
                <a:latin typeface="Aptos"/>
              </a:rPr>
              <a:t>Network: 192.168.20.0/24
Gateway: 192.168.20.1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600905"/>
              </p:ext>
            </p:extLst>
          </p:nvPr>
        </p:nvGraphicFramePr>
        <p:xfrm>
          <a:off x="640080" y="4106091"/>
          <a:ext cx="94640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PC</a:t>
                      </a:r>
                    </a:p>
                  </a:txBody>
                  <a:tcPr marL="73152" marR="45720" marT="36576" marB="36576">
                    <a:solidFill>
                      <a:srgbClr val="0053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IP Address</a:t>
                      </a:r>
                    </a:p>
                  </a:txBody>
                  <a:tcPr marL="73152" marR="45720" marT="36576" marB="36576">
                    <a:solidFill>
                      <a:srgbClr val="0053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Subnet Mask</a:t>
                      </a:r>
                    </a:p>
                  </a:txBody>
                  <a:tcPr marL="73152" marR="45720" marT="36576" marB="36576">
                    <a:solidFill>
                      <a:srgbClr val="0053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Default Gateway</a:t>
                      </a:r>
                    </a:p>
                  </a:txBody>
                  <a:tcPr marL="73152" marR="45720" marT="36576" marB="36576">
                    <a:solidFill>
                      <a:srgbClr val="0053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VLAN</a:t>
                      </a:r>
                    </a:p>
                  </a:txBody>
                  <a:tcPr marL="73152" marR="45720" marT="36576" marB="36576">
                    <a:solidFill>
                      <a:srgbClr val="0053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2B3E"/>
                          </a:solidFill>
                          <a:latin typeface="Aptos"/>
                        </a:rPr>
                        <a:t>PC0</a:t>
                      </a:r>
                    </a:p>
                  </a:txBody>
                  <a:tcPr marL="73152" marR="45720" marT="36576" marB="36576"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2B3E"/>
                          </a:solidFill>
                          <a:latin typeface="Aptos"/>
                        </a:rPr>
                        <a:t>192.168.10.10</a:t>
                      </a:r>
                    </a:p>
                  </a:txBody>
                  <a:tcPr marL="73152" marR="45720" marT="36576" marB="36576"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82B3E"/>
                          </a:solidFill>
                          <a:latin typeface="Aptos"/>
                        </a:rPr>
                        <a:t>255.255.255.0</a:t>
                      </a:r>
                    </a:p>
                  </a:txBody>
                  <a:tcPr marL="73152" marR="45720" marT="36576" marB="36576"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2B3E"/>
                          </a:solidFill>
                          <a:latin typeface="Aptos"/>
                        </a:rPr>
                        <a:t>192.168.10.1</a:t>
                      </a:r>
                    </a:p>
                  </a:txBody>
                  <a:tcPr marL="73152" marR="45720" marT="36576" marB="36576"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2B3E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73152" marR="45720" marT="36576" marB="36576"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2B3E"/>
                          </a:solidFill>
                          <a:latin typeface="Aptos"/>
                        </a:rPr>
                        <a:t>PC1</a:t>
                      </a:r>
                    </a:p>
                  </a:txBody>
                  <a:tcPr marL="73152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2B3E"/>
                          </a:solidFill>
                          <a:latin typeface="Aptos"/>
                        </a:rPr>
                        <a:t>192.168.10.11</a:t>
                      </a:r>
                    </a:p>
                  </a:txBody>
                  <a:tcPr marL="73152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2B3E"/>
                          </a:solidFill>
                          <a:latin typeface="Aptos"/>
                        </a:rPr>
                        <a:t>255.255.255.0</a:t>
                      </a:r>
                    </a:p>
                  </a:txBody>
                  <a:tcPr marL="73152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2B3E"/>
                          </a:solidFill>
                          <a:latin typeface="Aptos"/>
                        </a:rPr>
                        <a:t>192.168.10.1</a:t>
                      </a:r>
                    </a:p>
                  </a:txBody>
                  <a:tcPr marL="73152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2B3E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73152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2B3E"/>
                          </a:solidFill>
                          <a:latin typeface="Aptos"/>
                        </a:rPr>
                        <a:t>PC2</a:t>
                      </a:r>
                    </a:p>
                  </a:txBody>
                  <a:tcPr marL="73152" marR="45720" marT="36576" marB="36576"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2B3E"/>
                          </a:solidFill>
                          <a:latin typeface="Aptos"/>
                        </a:rPr>
                        <a:t>192.168.20.10</a:t>
                      </a:r>
                    </a:p>
                  </a:txBody>
                  <a:tcPr marL="73152" marR="45720" marT="36576" marB="36576"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2B3E"/>
                          </a:solidFill>
                          <a:latin typeface="Aptos"/>
                        </a:rPr>
                        <a:t>255.255.255.0</a:t>
                      </a:r>
                    </a:p>
                  </a:txBody>
                  <a:tcPr marL="73152" marR="45720" marT="36576" marB="36576"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2B3E"/>
                          </a:solidFill>
                          <a:latin typeface="Aptos"/>
                        </a:rPr>
                        <a:t>192.168.20.1</a:t>
                      </a:r>
                    </a:p>
                  </a:txBody>
                  <a:tcPr marL="73152" marR="45720" marT="36576" marB="36576"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2B3E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 marL="73152" marR="45720" marT="36576" marB="36576">
                    <a:solidFill>
                      <a:srgbClr val="E8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2B3E"/>
                          </a:solidFill>
                          <a:latin typeface="Aptos"/>
                        </a:rPr>
                        <a:t>PC3</a:t>
                      </a:r>
                    </a:p>
                  </a:txBody>
                  <a:tcPr marL="73152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2B3E"/>
                          </a:solidFill>
                          <a:latin typeface="Aptos"/>
                        </a:rPr>
                        <a:t>192.168.20.11</a:t>
                      </a:r>
                    </a:p>
                  </a:txBody>
                  <a:tcPr marL="73152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82B3E"/>
                          </a:solidFill>
                          <a:latin typeface="Aptos"/>
                        </a:rPr>
                        <a:t>255.255.255.0</a:t>
                      </a:r>
                    </a:p>
                  </a:txBody>
                  <a:tcPr marL="73152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82B3E"/>
                          </a:solidFill>
                          <a:latin typeface="Aptos"/>
                        </a:rPr>
                        <a:t>192.168.20.1</a:t>
                      </a:r>
                    </a:p>
                  </a:txBody>
                  <a:tcPr marL="73152" marR="4572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182B3E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 marL="73152" marR="45720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05394" y="6473952"/>
            <a:ext cx="10698480" cy="5029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0" dirty="0">
                <a:solidFill>
                  <a:srgbClr val="53697C"/>
                </a:solidFill>
                <a:latin typeface="Aptos"/>
              </a:rPr>
              <a:t>A VLAN creates a separate logical network. The default gateway lets a PC send traffic to other networks.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B57BADC-47D1-CD53-A91C-5DC28FDCB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97" y="164862"/>
            <a:ext cx="2905125" cy="10001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77920BA-7A81-D629-7BCD-C72F34C43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5303" y="336312"/>
            <a:ext cx="1714500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90797" y="1399685"/>
            <a:ext cx="11548872" cy="658368"/>
          </a:xfrm>
          <a:prstGeom prst="roundRect">
            <a:avLst>
              <a:gd name="adj" fmla="val 12000"/>
            </a:avLst>
          </a:prstGeom>
          <a:solidFill>
            <a:srgbClr val="005391"/>
          </a:solidFill>
          <a:ln>
            <a:solidFill>
              <a:srgbClr val="005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3796" y="1463693"/>
            <a:ext cx="10881360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500" b="1" dirty="0">
                <a:solidFill>
                  <a:srgbClr val="FFFFFF"/>
                </a:solidFill>
                <a:latin typeface="Aptos"/>
              </a:rPr>
              <a:t>Implementation and Security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3697C"/>
                </a:solidFill>
                <a:latin typeface="Apto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7012" y="2864247"/>
            <a:ext cx="4754880" cy="3589673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>
            <a:solidFill>
              <a:srgbClr val="BF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69392" y="2349572"/>
            <a:ext cx="4754880" cy="384048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2377004"/>
            <a:ext cx="4535424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SWITCH 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671316"/>
            <a:ext cx="4462272" cy="3995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>
                <a:solidFill>
                  <a:srgbClr val="182B3E"/>
                </a:solidFill>
                <a:latin typeface="Aptos"/>
              </a:rPr>
              <a:t>• VLAN 10 named GUEST
• VLAN 20 named ADMIN
• Fa0/1–Fa0/2 assigned to VLAN 10
• Fa0/9–Fa0/10 assigned to VLAN 20
• Fa0/24 configured as 802.1Q trunk
• Allowed VLANs: 10,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2864248"/>
            <a:ext cx="6172200" cy="3589673"/>
          </a:xfrm>
          <a:prstGeom prst="roundRect">
            <a:avLst>
              <a:gd name="adj" fmla="val 12000"/>
            </a:avLst>
          </a:prstGeom>
          <a:solidFill>
            <a:srgbClr val="F5F8FB"/>
          </a:solidFill>
          <a:ln>
            <a:solidFill>
              <a:srgbClr val="BF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500116" y="2349572"/>
            <a:ext cx="6158484" cy="437170"/>
          </a:xfrm>
          <a:prstGeom prst="roundRect">
            <a:avLst>
              <a:gd name="adj" fmla="val 12000"/>
            </a:avLst>
          </a:prstGeom>
          <a:solidFill>
            <a:srgbClr val="005391"/>
          </a:solidFill>
          <a:ln>
            <a:solidFill>
              <a:srgbClr val="005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46420" y="2377004"/>
            <a:ext cx="585216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Aptos"/>
              </a:rPr>
              <a:t>ROUTER SUBINTERFACES + ACL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079786"/>
            <a:ext cx="5806440" cy="3840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182B3E"/>
                </a:solidFill>
                <a:latin typeface="Consolas"/>
              </a:rPr>
              <a:t>interface g0/0.10
 encapsulation dot1Q 10
 ip address 192.168.10.1 255.255.255.0
!
interface g0/0.20
 encapsulation dot1Q 20
 ip address 192.168.20.1 255.255.255.0
!
ip access-list extended GUEST_FILTER
 deny ip 192.168.10.0 0.0.0.255 192.168.20.0 0.0.0.255
 permit ip any any
!
interface g0/0.10
 ip access-group GUEST_FILTER 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6536218"/>
            <a:ext cx="10515600" cy="384048"/>
          </a:xfrm>
          <a:prstGeom prst="roundRect">
            <a:avLst>
              <a:gd name="adj" fmla="val 12000"/>
            </a:avLst>
          </a:prstGeom>
          <a:solidFill>
            <a:srgbClr val="E8F8ED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3836" y="6536218"/>
            <a:ext cx="1024128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Aptos"/>
              </a:rPr>
              <a:t>ACL placement: inbound on Router0 GigabitEthernet0/0.10 (Guest VLAN subinterface)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1AAB0A7-4FE2-6A66-7FBB-3415183A7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97" y="164862"/>
            <a:ext cx="2905125" cy="10001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24815AB-18AE-AC88-9713-A56E349A3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5303" y="336312"/>
            <a:ext cx="1714500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1408827"/>
            <a:ext cx="11548872" cy="555822"/>
          </a:xfrm>
          <a:prstGeom prst="roundRect">
            <a:avLst>
              <a:gd name="adj" fmla="val 12000"/>
            </a:avLst>
          </a:prstGeom>
          <a:solidFill>
            <a:srgbClr val="005391"/>
          </a:solidFill>
          <a:ln>
            <a:solidFill>
              <a:srgbClr val="005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84632" y="1394899"/>
            <a:ext cx="10881360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Testing and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3697C"/>
                </a:solidFill>
                <a:latin typeface="Aptos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519989"/>
              </p:ext>
            </p:extLst>
          </p:nvPr>
        </p:nvGraphicFramePr>
        <p:xfrm>
          <a:off x="608076" y="2222429"/>
          <a:ext cx="109728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Test</a:t>
                      </a:r>
                    </a:p>
                  </a:txBody>
                  <a:tcPr marL="73152" marR="45720">
                    <a:solidFill>
                      <a:srgbClr val="0053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From → To</a:t>
                      </a:r>
                    </a:p>
                  </a:txBody>
                  <a:tcPr marL="73152" marR="45720">
                    <a:solidFill>
                      <a:srgbClr val="0053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Command</a:t>
                      </a:r>
                    </a:p>
                  </a:txBody>
                  <a:tcPr marL="73152" marR="45720">
                    <a:solidFill>
                      <a:srgbClr val="0053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Expected / observed result</a:t>
                      </a:r>
                    </a:p>
                  </a:txBody>
                  <a:tcPr marL="73152" marR="45720">
                    <a:solidFill>
                      <a:srgbClr val="0053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2B3E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73152" marR="45720"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2B3E"/>
                          </a:solidFill>
                          <a:latin typeface="Aptos"/>
                        </a:rPr>
                        <a:t>PC0 → PC1</a:t>
                      </a:r>
                    </a:p>
                  </a:txBody>
                  <a:tcPr marL="73152" marR="45720"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2B3E"/>
                          </a:solidFill>
                          <a:latin typeface="Aptos"/>
                        </a:rPr>
                        <a:t>ping 192.168.10.11</a:t>
                      </a:r>
                    </a:p>
                  </a:txBody>
                  <a:tcPr marL="73152" marR="45720"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B3E"/>
                          </a:solidFill>
                          <a:latin typeface="Aptos"/>
                        </a:rPr>
                        <a:t>Successful</a:t>
                      </a:r>
                    </a:p>
                  </a:txBody>
                  <a:tcPr marL="73152" marR="45720">
                    <a:solidFill>
                      <a:srgbClr val="E8F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2B3E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73152" marR="45720"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2B3E"/>
                          </a:solidFill>
                          <a:latin typeface="Aptos"/>
                        </a:rPr>
                        <a:t>PC2 → PC3</a:t>
                      </a:r>
                    </a:p>
                  </a:txBody>
                  <a:tcPr marL="73152" marR="45720"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2B3E"/>
                          </a:solidFill>
                          <a:latin typeface="Aptos"/>
                        </a:rPr>
                        <a:t>ping 192.168.20.11</a:t>
                      </a:r>
                    </a:p>
                  </a:txBody>
                  <a:tcPr marL="73152" marR="45720"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B3E"/>
                          </a:solidFill>
                          <a:latin typeface="Aptos"/>
                        </a:rPr>
                        <a:t>Successful</a:t>
                      </a:r>
                    </a:p>
                  </a:txBody>
                  <a:tcPr marL="73152" marR="45720">
                    <a:solidFill>
                      <a:srgbClr val="E8F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2B3E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73152" marR="45720"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2B3E"/>
                          </a:solidFill>
                          <a:latin typeface="Aptos"/>
                        </a:rPr>
                        <a:t>PC0 → Guest gateway</a:t>
                      </a:r>
                    </a:p>
                  </a:txBody>
                  <a:tcPr marL="73152" marR="45720"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2B3E"/>
                          </a:solidFill>
                          <a:latin typeface="Aptos"/>
                        </a:rPr>
                        <a:t>ping 192.168.10.1</a:t>
                      </a:r>
                    </a:p>
                  </a:txBody>
                  <a:tcPr marL="73152" marR="45720"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B3E"/>
                          </a:solidFill>
                          <a:latin typeface="Aptos"/>
                        </a:rPr>
                        <a:t>Successful</a:t>
                      </a:r>
                    </a:p>
                  </a:txBody>
                  <a:tcPr marL="73152" marR="45720">
                    <a:solidFill>
                      <a:srgbClr val="E8F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2B3E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73152" marR="45720"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2B3E"/>
                          </a:solidFill>
                          <a:latin typeface="Aptos"/>
                        </a:rPr>
                        <a:t>PC2 → Admin gateway</a:t>
                      </a:r>
                    </a:p>
                  </a:txBody>
                  <a:tcPr marL="73152" marR="45720"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2B3E"/>
                          </a:solidFill>
                          <a:latin typeface="Aptos"/>
                        </a:rPr>
                        <a:t>ping 192.168.20.1</a:t>
                      </a:r>
                    </a:p>
                  </a:txBody>
                  <a:tcPr marL="73152" marR="45720">
                    <a:solidFill>
                      <a:srgbClr val="E8F8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2B3E"/>
                          </a:solidFill>
                          <a:latin typeface="Aptos"/>
                        </a:rPr>
                        <a:t>Successful</a:t>
                      </a:r>
                    </a:p>
                  </a:txBody>
                  <a:tcPr marL="73152" marR="45720">
                    <a:solidFill>
                      <a:srgbClr val="E8F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E2D2D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73152" marR="45720"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E2D2D"/>
                          </a:solidFill>
                          <a:latin typeface="Aptos"/>
                        </a:rPr>
                        <a:t>PC0 → PC2</a:t>
                      </a:r>
                    </a:p>
                  </a:txBody>
                  <a:tcPr marL="73152" marR="45720"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BE2D2D"/>
                          </a:solidFill>
                          <a:latin typeface="Aptos"/>
                        </a:rPr>
                        <a:t>ping 192.168.20.10</a:t>
                      </a:r>
                    </a:p>
                  </a:txBody>
                  <a:tcPr marL="73152" marR="45720">
                    <a:solidFill>
                      <a:srgbClr val="F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BE2D2D"/>
                          </a:solidFill>
                          <a:latin typeface="Aptos"/>
                        </a:rPr>
                        <a:t>Blocked by GUEST_FILTER</a:t>
                      </a:r>
                    </a:p>
                  </a:txBody>
                  <a:tcPr marL="73152" marR="45720">
                    <a:solidFill>
                      <a:srgbClr val="F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94360" y="6248398"/>
            <a:ext cx="5257800" cy="594795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>
            <a:solidFill>
              <a:srgbClr val="BF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" y="5754626"/>
            <a:ext cx="5257800" cy="384048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5836920"/>
            <a:ext cx="5038344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WHAT SUCCESS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6345936"/>
            <a:ext cx="4965192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dirty="0">
                <a:solidFill>
                  <a:srgbClr val="182B3E"/>
                </a:solidFill>
                <a:latin typeface="Aptos"/>
              </a:rPr>
              <a:t>Devices communicate within their own VLANs and reach their gateways.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6248399"/>
            <a:ext cx="5038344" cy="594795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>
            <a:solidFill>
              <a:srgbClr val="BF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9360" y="5809488"/>
            <a:ext cx="5257800" cy="384048"/>
          </a:xfrm>
          <a:prstGeom prst="roundRect">
            <a:avLst>
              <a:gd name="adj" fmla="val 12000"/>
            </a:avLst>
          </a:prstGeom>
          <a:solidFill>
            <a:srgbClr val="BE2D2D"/>
          </a:solidFill>
          <a:ln>
            <a:solidFill>
              <a:srgbClr val="BE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27648" y="5846063"/>
            <a:ext cx="5038344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SECURITY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6437376"/>
            <a:ext cx="4965192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182B3E"/>
                </a:solidFill>
                <a:latin typeface="Aptos"/>
              </a:rPr>
              <a:t>Guest-to-Administration ping fails, consistent with the ACL.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9A58FF9-DB47-2ACE-6552-D5298E0A0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97" y="164862"/>
            <a:ext cx="2905125" cy="10001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2652A70-E44A-5F10-2479-575410107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5303" y="336312"/>
            <a:ext cx="1714500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0040" y="1484266"/>
            <a:ext cx="11548872" cy="658368"/>
          </a:xfrm>
          <a:prstGeom prst="roundRect">
            <a:avLst>
              <a:gd name="adj" fmla="val 12000"/>
            </a:avLst>
          </a:prstGeom>
          <a:solidFill>
            <a:srgbClr val="005391"/>
          </a:solidFill>
          <a:ln>
            <a:solidFill>
              <a:srgbClr val="005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76072" y="1578755"/>
            <a:ext cx="10881360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Conclusion and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502920" cy="2011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3697C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" y="2906484"/>
            <a:ext cx="5394960" cy="3334295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>
            <a:solidFill>
              <a:srgbClr val="BF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84632" y="2296124"/>
            <a:ext cx="5394960" cy="384048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2296124"/>
            <a:ext cx="5175504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193869"/>
            <a:ext cx="5102352" cy="3858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182B3E"/>
                </a:solidFill>
                <a:latin typeface="Aptos"/>
              </a:rPr>
              <a:t>• Designed and simulated the hotel network in Packet Tracer.
• Created separate Guest and Administration VLANs.
• Configured static IPs, router gateways, and trunking.
• Applied GUEST_FILTER to restrict Guest-to-Admin traffic.
• Verified expected connectivity using ping tests.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906486"/>
            <a:ext cx="5394960" cy="3334294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>
            <a:solidFill>
              <a:srgbClr val="BFDA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17920" y="2296124"/>
            <a:ext cx="5394960" cy="384048"/>
          </a:xfrm>
          <a:prstGeom prst="roundRect">
            <a:avLst>
              <a:gd name="adj" fmla="val 1200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2136" y="2296124"/>
            <a:ext cx="5175504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FUTURE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5288" y="3193869"/>
            <a:ext cx="5102352" cy="38587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182B3E"/>
                </a:solidFill>
                <a:latin typeface="Aptos"/>
              </a:rPr>
              <a:t>• Add DHCP for automatic IP addressing.
• Add a wireless access point for guest Wi-Fi.
• Configure NAT and internet connectivity.
• Add policies for more hotel departments.
• Add network monitoring and logging.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11096" y="6323076"/>
            <a:ext cx="8366760" cy="502920"/>
          </a:xfrm>
          <a:prstGeom prst="roundRect">
            <a:avLst>
              <a:gd name="adj" fmla="val 12000"/>
            </a:avLst>
          </a:prstGeom>
          <a:solidFill>
            <a:srgbClr val="005391"/>
          </a:solidFill>
          <a:ln>
            <a:solidFill>
              <a:srgbClr val="005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THANKYOU</a:t>
            </a:r>
            <a:endParaRPr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9D6A9E-77B6-CCE5-EA3A-CFC2326FE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97" y="164862"/>
            <a:ext cx="2905125" cy="10001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2A0D776-A7F4-303C-991C-0FC61EF94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5303" y="336312"/>
            <a:ext cx="1714500" cy="8286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733</Words>
  <Application>Microsoft Office PowerPoint</Application>
  <PresentationFormat>Widescreen</PresentationFormat>
  <Paragraphs>123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Bhagyashree</dc:creator>
  <cp:keywords/>
  <dc:description>generated using python-pptx</dc:description>
  <cp:lastModifiedBy>Bhagyashree Patel</cp:lastModifiedBy>
  <cp:revision>3</cp:revision>
  <dcterms:created xsi:type="dcterms:W3CDTF">2013-01-27T09:14:16Z</dcterms:created>
  <dcterms:modified xsi:type="dcterms:W3CDTF">2026-10-28T04:25:25Z</dcterms:modified>
  <cp:category/>
</cp:coreProperties>
</file>